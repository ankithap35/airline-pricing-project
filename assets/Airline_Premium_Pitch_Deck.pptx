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0"/>
            <a:ext cx="167132" cy="-30703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3080" y="1602088"/>
            <a:ext cx="167132" cy="-30504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840" y="1558589"/>
            <a:ext cx="167132" cy="-30073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00" y="1515755"/>
            <a:ext cx="167132" cy="-29414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9360" y="1473911"/>
            <a:ext cx="167132" cy="-28530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8120" y="1433377"/>
            <a:ext cx="167132" cy="-27430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6880" y="1394460"/>
            <a:ext cx="167132" cy="-26120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5640" y="1357457"/>
            <a:ext cx="167132" cy="-2461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4400" y="1322649"/>
            <a:ext cx="167132" cy="-22917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290302"/>
            <a:ext cx="167132" cy="-21047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1920" y="1260661"/>
            <a:ext cx="167132" cy="-19017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0680" y="1233952"/>
            <a:ext cx="167132" cy="-1684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9440" y="1210379"/>
            <a:ext cx="167132" cy="-14539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8200" y="1190120"/>
            <a:ext cx="167132" cy="-12125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16960" y="1173330"/>
            <a:ext cx="167132" cy="-9619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55720" y="1160137"/>
            <a:ext cx="167132" cy="-7040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94480" y="1150640"/>
            <a:ext cx="167132" cy="-4408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3240" y="1144914"/>
            <a:ext cx="167132" cy="-1741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143000"/>
            <a:ext cx="167132" cy="938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0760" y="1144914"/>
            <a:ext cx="167132" cy="3610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9520" y="1150640"/>
            <a:ext cx="167132" cy="6255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8280" y="1160137"/>
            <a:ext cx="167132" cy="885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7040" y="1173330"/>
            <a:ext cx="167132" cy="1138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5800" y="1190120"/>
            <a:ext cx="167132" cy="13826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4560" y="1210379"/>
            <a:ext cx="167132" cy="16164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43320" y="1233952"/>
            <a:ext cx="167132" cy="18379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2080" y="1260661"/>
            <a:ext cx="167132" cy="20454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1290302"/>
            <a:ext cx="167132" cy="22373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59600" y="1322649"/>
            <a:ext cx="167132" cy="2412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8360" y="1357457"/>
            <a:ext cx="167132" cy="25688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37120" y="1394460"/>
            <a:ext cx="167132" cy="27058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75880" y="1433377"/>
            <a:ext cx="167132" cy="2822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4640" y="1473911"/>
            <a:ext cx="167132" cy="29172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3400" y="1515755"/>
            <a:ext cx="167132" cy="29899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92160" y="1558589"/>
            <a:ext cx="167132" cy="30399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30920" y="1602088"/>
            <a:ext cx="167132" cy="30667"/>
          </a:xfrm>
          <a:prstGeom prst="line">
            <a:avLst/>
          </a:prstGeom>
          <a:noFill/>
          <a:ln w="15240">
            <a:solidFill>
              <a:srgbClr val="FF6B5B">
                <a:alpha val="70000"/>
              </a:srgbClr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00000">
            <a:off x="8549640" y="1325880"/>
            <a:ext cx="457200" cy="45720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210312" y="1581912"/>
            <a:ext cx="128016" cy="128016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• FINAL PROJECT ADVERTISEMENT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48640" y="21031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actually pays the
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airline-competition </a:t>
            </a:r>
            <a:pPr algn="l" indent="0" marL="0">
              <a:buNone/>
            </a:pPr>
            <a:r>
              <a:rPr lang="en-US" sz="40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000" dirty="0"/>
          </a:p>
        </p:txBody>
      </p:sp>
      <p:sp>
        <p:nvSpPr>
          <p:cNvPr id="43" name="Text 40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data-mining investigation of US airfares   •   1993 – 2024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48640" y="4389120"/>
            <a:ext cx="73152" cy="32004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9808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textbook story is wrong. The real story is more interesting.”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4864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Ankitha Prasad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852160" y="47777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airlines should mean higher prices.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believes 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Airlines price around 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Regulators review mergers on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intuition so strong it became policy.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1031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airline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760720" y="2743200"/>
            <a:ext cx="26517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⇧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548640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 $  $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54864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" y="48234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Final Project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Ankitha Prasad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the airline premium?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tested the textbook at scale.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DOT Consumer Airfare Report   •   cleaned + CPI-adjusted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965960"/>
            <a:ext cx="1965960" cy="109728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868" y="22585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237,985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75488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3886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route-quarters, cleaned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51176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51176" y="1965960"/>
            <a:ext cx="1965960" cy="109728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22585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51176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212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2551176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642616" y="3886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origin-destination pairs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26864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965960"/>
            <a:ext cx="1965960" cy="109728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44" y="225856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6864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4626864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18304" y="3886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legacy, low-cost, regional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02552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702552" y="1965960"/>
            <a:ext cx="1965960" cy="109728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25856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02552" y="28346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200" dirty="0"/>
          </a:p>
        </p:txBody>
      </p:sp>
      <p:sp>
        <p:nvSpPr>
          <p:cNvPr id="28" name="Text 22"/>
          <p:cNvSpPr/>
          <p:nvPr/>
        </p:nvSpPr>
        <p:spPr>
          <a:xfrm>
            <a:off x="6702552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793992" y="3886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– 2024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route. Every quarter. Thirty-two years.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320040" y="48234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Final Project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Ankitha Prasad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the airline premium?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Monopoly routes are … cheaper?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" y="173736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-$12.61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" y="3063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TICKET  •  MONOPOLY vs. COMPETITIVE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" y="3346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controlling for distance, demand, year.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77640" y="160020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16916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distribution by market structure</a:t>
            </a:r>
            <a:endParaRPr lang="en-US" sz="1000" dirty="0"/>
          </a:p>
        </p:txBody>
      </p:sp>
      <p:pic>
        <p:nvPicPr>
          <p:cNvPr id="10" name="Image 0" descr="/sessions/vibrant-tender-mayer/chart_final/slide4_box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1965960"/>
            <a:ext cx="4709160" cy="2423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23367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Checkpoint-3 notebook, cell 20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2E3E7C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6360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opposite of the textbook prediction.  </a:t>
            </a:r>
            <a:pPr algn="ctr" indent="0" marL="0">
              <a:buNone/>
            </a:pPr>
            <a:r>
              <a:rPr lang="en-US" sz="1300" b="1" i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— why?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A COMPOSITION EFFECT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actually runs those monopoly routes?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monopoly effect — when you split by carrier type</a:t>
            </a:r>
            <a:endParaRPr lang="en-US" sz="1050" dirty="0"/>
          </a:p>
        </p:txBody>
      </p:sp>
      <p:pic>
        <p:nvPicPr>
          <p:cNvPr id="7" name="Image 0" descr="/sessions/vibrant-tender-mayer/chart_final/slide5_stratifi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965960"/>
            <a:ext cx="502920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ULCC:  </a:t>
            </a:r>
            <a:pPr algn="ctr" indent="0" marL="0">
              <a:buNone/>
            </a:pPr>
            <a:r>
              <a:rPr lang="en-US" sz="11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-$14.60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(real discount)        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 </a:t>
            </a:r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+$0.86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(indistinguishable from zero)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407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Checkpoint-3 notebook, cell 42  •  OLS, 95% CI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43600" y="1508760"/>
            <a:ext cx="2834640" cy="3017520"/>
          </a:xfrm>
          <a:prstGeom prst="roundRect">
            <a:avLst>
              <a:gd name="adj" fmla="val 32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MONOPOLY COLUMN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26480" y="1874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47.3%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6126480" y="2651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monopoly routes 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carriers.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3291840"/>
            <a:ext cx="2377440" cy="0"/>
          </a:xfrm>
          <a:prstGeom prst="line">
            <a:avLst/>
          </a:prstGeom>
          <a:noFill/>
          <a:ln w="12700">
            <a:solidFill>
              <a:srgbClr val="FF6B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price cheap everywhere —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 and seats, not fares.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26480" y="3959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Carrier identity,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market power.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" y="48234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Final Project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Ankitha Prasad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the airline premium?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were asking at the wrong level.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2E3E7C"/>
          </a:solidFill>
          <a:ln w="12700">
            <a:solidFill>
              <a:srgbClr val="334C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LEVEL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17282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airline on one route”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391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narrow — a carrier can run an entire hub's banks without 90% on any one route.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743200"/>
            <a:ext cx="27432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31546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LEVEL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143000" y="355701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airline dominates the hub”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0080" y="38679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Fortress hubs — one carrier, all the banks, all the gates, and the fare ladder.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0" y="132588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736592" y="1399032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fortress hubs — single-carrier dominance</a:t>
            </a:r>
            <a:endParaRPr lang="en-US" sz="1000" dirty="0"/>
          </a:p>
        </p:txBody>
      </p:sp>
      <p:pic>
        <p:nvPicPr>
          <p:cNvPr id="18" name="Image 3" descr="/sessions/vibrant-tender-mayer/chart_final/slide6_map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81728" y="1645920"/>
            <a:ext cx="4078224" cy="2606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36592" y="4251960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Checkpoint-3 notebook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the unit of analysis. Everything changes.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DFW vs. MDW — same destinations, different fare.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109728" cy="96012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990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$56.71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8600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FARE GAP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ticket, DFW − MDW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95728"/>
            <a:ext cx="109728" cy="96012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68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0" y="2578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SHARED DESTINATIONS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2898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is the pricier airport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65576"/>
            <a:ext cx="109728" cy="96012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3872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286000" y="3648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DESTINATIONS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39684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city pairs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94760" y="132588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9352" y="1399032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Fortress score vs. airport fare — DFW and MDW, side by side</a:t>
            </a:r>
            <a:endParaRPr lang="en-US" sz="1000" dirty="0"/>
          </a:p>
        </p:txBody>
      </p:sp>
      <p:pic>
        <p:nvPicPr>
          <p:cNvPr id="22" name="Image 0" descr="/sessions/vibrant-tender-mayer/chart_final/slide7_fort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04488" y="1645920"/>
            <a:ext cx="4855464" cy="2514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959352" y="416052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Checkpoint-3 notebook  ·  per-airport avg fare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plane.  Same distance.  Different airport.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premium didn't exist 10 years ago.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126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399032"/>
            <a:ext cx="5797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carrier monopoly premium, 1993 – 2024  (CPI-adjusted)</a:t>
            </a:r>
            <a:endParaRPr lang="en-US" sz="1000" dirty="0"/>
          </a:p>
        </p:txBody>
      </p:sp>
      <p:pic>
        <p:nvPicPr>
          <p:cNvPr id="7" name="Image 0" descr="/sessions/vibrant-tender-mayer/chart_final/slide8_tempo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45920"/>
            <a:ext cx="5907024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4251960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Checkpoint-3 notebook  ·  vertical lines mark AA+TWA, DL+NW, UA+CO, AA+US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675120" y="169164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SEEN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1228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812280" y="2542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AA finished absorbing US Airways.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75120" y="30632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334C8A"/>
          </a:solidFill>
          <a:ln w="12700">
            <a:solidFill>
              <a:srgbClr val="334C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NORMAL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12280" y="34015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+$14.64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812280" y="3950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 — not an outlier.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shift.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premium appeared only after consolidation had time to settle.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Fortress hubs, </a:t>
            </a:r>
            <a:pPr indent="0" marL="0">
              <a:buNone/>
            </a:pPr>
            <a:r>
              <a:rPr lang="en-US" sz="3200" b="1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</a:t>
            </a:r>
            <a:pPr indent="0" marL="0">
              <a:buNone/>
            </a:pPr>
            <a:r>
              <a:rPr lang="en-US" sz="3200" b="1" dirty="0">
                <a:solidFill>
                  <a:srgbClr val="FF6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monopoly routes.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6908" y="16916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6908" y="1691640"/>
            <a:ext cx="2697480" cy="73152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ROUTE LEVEL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9788" y="2148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−$12.61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89788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effect,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market power.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16916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3260" y="1691640"/>
            <a:ext cx="2697480" cy="73152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6140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AIRPORT LEVEL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6140" y="2148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$56.71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0614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Fortress hubs charge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premium.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9612" y="16916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9612" y="1691640"/>
            <a:ext cx="2697480" cy="73152"/>
          </a:xfrm>
          <a:prstGeom prst="rect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2492" y="1874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OVER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22492" y="2148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+$16.90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222492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emerged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2016 mergers.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95928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43000" y="3931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premium isn't </a:t>
            </a:r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airline on one 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 It's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airline dominating the airport.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 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Antitrust review should track </a:t>
            </a:r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airport-level legacy concentration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route-level market share.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findings  ·  32 years of data  ·  one conclusion.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pays the airline-competition premium?</dc:title>
  <dc:subject>PptxGenJS Presentation</dc:subject>
  <dc:creator>Ankitha Prasad</dc:creator>
  <cp:lastModifiedBy>Ankitha Prasad</cp:lastModifiedBy>
  <cp:revision>1</cp:revision>
  <dcterms:created xsi:type="dcterms:W3CDTF">2026-04-20T14:26:36Z</dcterms:created>
  <dcterms:modified xsi:type="dcterms:W3CDTF">2026-04-20T14:26:36Z</dcterms:modified>
</cp:coreProperties>
</file>